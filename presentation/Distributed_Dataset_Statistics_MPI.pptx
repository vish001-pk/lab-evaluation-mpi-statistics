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0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51560"/>
            <a:ext cx="118872" cy="429768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325880"/>
            <a:ext cx="9875520" cy="14173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Distributed Dataset</a:t>
            </a:r>
            <a:br/>
            <a:r>
              <a:t>Statistics using MPI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154680"/>
            <a:ext cx="9601200" cy="6400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000" b="0">
                <a:solidFill>
                  <a:srgbClr val="D2E0EE"/>
                </a:solidFill>
                <a:latin typeface="Aptos"/>
              </a:defRPr>
            </a:pPr>
            <a:r>
              <a:t>Sequential and parallel computation of basic statistics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4709160"/>
            <a:ext cx="960120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PGC Review Project  |  Lab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6035040"/>
            <a:ext cx="91440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200" b="0">
                <a:solidFill>
                  <a:srgbClr val="D2E0EE"/>
                </a:solidFill>
                <a:latin typeface="Aptos"/>
              </a:defRPr>
            </a:pPr>
            <a:r>
              <a:t>Name / Team members: add your details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700" b="1">
                <a:solidFill>
                  <a:srgbClr val="193052"/>
                </a:solidFill>
                <a:latin typeface="Aptos"/>
              </a:defRPr>
            </a:pPr>
            <a:r>
              <a:t>1. Problem Definition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98755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900" b="0">
                <a:solidFill>
                  <a:srgbClr val="64707D"/>
                </a:solidFill>
                <a:latin typeface="Aptos"/>
              </a:defRPr>
            </a:pPr>
            <a:r>
              <a:t>Distributed Dataset Statistics using MPI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55664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000" b="0">
                <a:solidFill>
                  <a:srgbClr val="64707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•  Calculate the sum, average, minimum, and maximum of a dataset.</a:t>
            </a:r>
          </a:p>
          <a:p>
            <a:pPr>
              <a:spcAft>
                <a:spcPts val="16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•  Implement a sequential baseline and an MPI-based parallel version.</a:t>
            </a:r>
          </a:p>
          <a:p>
            <a:pPr>
              <a:spcAft>
                <a:spcPts val="16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•  Divide dataset indices among processes to distribute computation.</a:t>
            </a:r>
          </a:p>
          <a:p>
            <a:pPr>
              <a:spcAft>
                <a:spcPts val="16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•  Combine partial results with MPI_Reduce.</a:t>
            </a:r>
          </a:p>
          <a:p>
            <a:pPr>
              <a:spcAft>
                <a:spcPts val="1600"/>
              </a:spcAft>
              <a:defRPr sz="2000">
                <a:solidFill>
                  <a:srgbClr val="2A3441"/>
                </a:solidFill>
                <a:latin typeface="Aptos"/>
              </a:defRPr>
            </a:pPr>
            <a:r>
              <a:t>•  Measure execution time for different dataset sizes and process counts.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700" b="1">
                <a:solidFill>
                  <a:srgbClr val="193052"/>
                </a:solidFill>
                <a:latin typeface="Aptos"/>
              </a:defRPr>
            </a:pPr>
            <a:r>
              <a:t>2. MPI Parallel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98755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900" b="0">
                <a:solidFill>
                  <a:srgbClr val="64707D"/>
                </a:solidFill>
                <a:latin typeface="Aptos"/>
              </a:defRPr>
            </a:pPr>
            <a:r>
              <a:t>Distributed Dataset Statistics using MPI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55664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000" b="0">
                <a:solidFill>
                  <a:srgbClr val="64707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4937760" cy="1051560"/>
          </a:xfrm>
          <a:prstGeom prst="roundRect">
            <a:avLst/>
          </a:prstGeom>
          <a:solidFill>
            <a:srgbClr val="EDF4F9"/>
          </a:solidFill>
          <a:ln>
            <a:solidFill>
              <a:srgbClr val="CE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399032"/>
            <a:ext cx="41148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300" b="1">
                <a:solidFill>
                  <a:srgbClr val="00919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371600"/>
            <a:ext cx="3977639" cy="7315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700" b="1">
                <a:solidFill>
                  <a:srgbClr val="193052"/>
                </a:solidFill>
                <a:latin typeface="Aptos"/>
              </a:defRPr>
            </a:pPr>
            <a:r>
              <a:t>Initialize MPI</a:t>
            </a:r>
            <a:br/>
            <a:r>
              <a:t>MPI_Init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4937760" cy="1051560"/>
          </a:xfrm>
          <a:prstGeom prst="roundRect">
            <a:avLst/>
          </a:prstGeom>
          <a:solidFill>
            <a:srgbClr val="EDF4F9"/>
          </a:solidFill>
          <a:ln>
            <a:solidFill>
              <a:srgbClr val="CE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907792"/>
            <a:ext cx="41148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300" b="1">
                <a:solidFill>
                  <a:srgbClr val="00919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880360"/>
            <a:ext cx="3977639" cy="7315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700" b="1">
                <a:solidFill>
                  <a:srgbClr val="193052"/>
                </a:solidFill>
                <a:latin typeface="Aptos"/>
              </a:defRPr>
            </a:pPr>
            <a:r>
              <a:t>Discover rank</a:t>
            </a:r>
            <a:br/>
            <a:r>
              <a:t>and process count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51960"/>
            <a:ext cx="4937760" cy="1051560"/>
          </a:xfrm>
          <a:prstGeom prst="roundRect">
            <a:avLst/>
          </a:prstGeom>
          <a:solidFill>
            <a:srgbClr val="EDF4F9"/>
          </a:solidFill>
          <a:ln>
            <a:solidFill>
              <a:srgbClr val="CE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416552"/>
            <a:ext cx="41148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300" b="1">
                <a:solidFill>
                  <a:srgbClr val="00919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389120"/>
            <a:ext cx="3977639" cy="7315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700" b="1">
                <a:solidFill>
                  <a:srgbClr val="193052"/>
                </a:solidFill>
                <a:latin typeface="Aptos"/>
              </a:defRPr>
            </a:pPr>
            <a:r>
              <a:t>Assign each process</a:t>
            </a:r>
            <a:br/>
            <a:r>
              <a:t>a portion of indices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1234440"/>
            <a:ext cx="4937760" cy="1051560"/>
          </a:xfrm>
          <a:prstGeom prst="roundRect">
            <a:avLst/>
          </a:prstGeom>
          <a:solidFill>
            <a:srgbClr val="EDF4F9"/>
          </a:solidFill>
          <a:ln>
            <a:solidFill>
              <a:srgbClr val="CE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1" y="1399032"/>
            <a:ext cx="41148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300" b="1">
                <a:solidFill>
                  <a:srgbClr val="00919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79" y="1371600"/>
            <a:ext cx="3977639" cy="7315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700" b="1">
                <a:solidFill>
                  <a:srgbClr val="193052"/>
                </a:solidFill>
                <a:latin typeface="Aptos"/>
              </a:defRPr>
            </a:pPr>
            <a:r>
              <a:t>Compute local</a:t>
            </a:r>
            <a:br/>
            <a:r>
              <a:t>sum, min, max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2743200"/>
            <a:ext cx="4937760" cy="1051560"/>
          </a:xfrm>
          <a:prstGeom prst="roundRect">
            <a:avLst/>
          </a:prstGeom>
          <a:solidFill>
            <a:srgbClr val="EDF4F9"/>
          </a:solidFill>
          <a:ln>
            <a:solidFill>
              <a:srgbClr val="CE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1" y="2907792"/>
            <a:ext cx="41148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300" b="1">
                <a:solidFill>
                  <a:srgbClr val="00919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79" y="2880360"/>
            <a:ext cx="3977639" cy="7315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700" b="1">
                <a:solidFill>
                  <a:srgbClr val="193052"/>
                </a:solidFill>
                <a:latin typeface="Aptos"/>
              </a:defRPr>
            </a:pPr>
            <a:r>
              <a:t>Combine with</a:t>
            </a:r>
            <a:br/>
            <a:r>
              <a:t>MPI_Reduce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4251960"/>
            <a:ext cx="4937760" cy="1051560"/>
          </a:xfrm>
          <a:prstGeom prst="roundRect">
            <a:avLst/>
          </a:prstGeom>
          <a:solidFill>
            <a:srgbClr val="EDF4F9"/>
          </a:solidFill>
          <a:ln>
            <a:solidFill>
              <a:srgbClr val="CE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1" y="4416552"/>
            <a:ext cx="411480" cy="4572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300" b="1">
                <a:solidFill>
                  <a:srgbClr val="009196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79" y="4389120"/>
            <a:ext cx="3977639" cy="7315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700" b="1">
                <a:solidFill>
                  <a:srgbClr val="193052"/>
                </a:solidFill>
                <a:latin typeface="Aptos"/>
              </a:defRPr>
            </a:pPr>
            <a:r>
              <a:t>Rank 0 computes average</a:t>
            </a:r>
            <a:br/>
            <a:r>
              <a:t>and prints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989320"/>
            <a:ext cx="1042416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600" b="1">
                <a:solidFill>
                  <a:srgbClr val="2A69A0"/>
                </a:solidFill>
                <a:latin typeface="Aptos"/>
              </a:defRPr>
            </a:pPr>
            <a:r>
              <a:t>Only process 0 prints the global statistics.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700" b="1">
                <a:solidFill>
                  <a:srgbClr val="193052"/>
                </a:solidFill>
                <a:latin typeface="Aptos"/>
              </a:defRPr>
            </a:pPr>
            <a:r>
              <a:t>3. Algorithm and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98755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900" b="0">
                <a:solidFill>
                  <a:srgbClr val="64707D"/>
                </a:solidFill>
                <a:latin typeface="Aptos"/>
              </a:defRPr>
            </a:pPr>
            <a:r>
              <a:t>Distributed Dataset Statistics using MPI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55664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000" b="0">
                <a:solidFill>
                  <a:srgbClr val="64707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502920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100" b="1">
                <a:solidFill>
                  <a:srgbClr val="2A69A0"/>
                </a:solidFill>
                <a:latin typeface="Aptos"/>
              </a:defRPr>
            </a:pPr>
            <a:r>
              <a:t>Sequential 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5120640" cy="34747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•  Initialize statistics.</a:t>
            </a:r>
          </a:p>
          <a:p>
            <a:pPr>
              <a:spcAft>
                <a:spcPts val="16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•  Visit each generated value.</a:t>
            </a:r>
          </a:p>
          <a:p>
            <a:pPr>
              <a:spcAft>
                <a:spcPts val="16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•  Update sum, minimum, and maximum.</a:t>
            </a:r>
          </a:p>
          <a:p>
            <a:pPr>
              <a:spcAft>
                <a:spcPts val="16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•  Compute average = sum / 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143000"/>
            <a:ext cx="502920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100" b="1">
                <a:solidFill>
                  <a:srgbClr val="2A69A0"/>
                </a:solidFill>
                <a:latin typeface="Aptos"/>
              </a:defRPr>
            </a:pPr>
            <a:r>
              <a:t>Parallel 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645920"/>
            <a:ext cx="5120640" cy="393192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•  Partition indices among MPI processes.</a:t>
            </a:r>
          </a:p>
          <a:p>
            <a:pPr>
              <a:spcAft>
                <a:spcPts val="16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•  Compute local statistics.</a:t>
            </a:r>
          </a:p>
          <a:p>
            <a:pPr>
              <a:spcAft>
                <a:spcPts val="16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•  Reduce sum with MPI_SUM.</a:t>
            </a:r>
          </a:p>
          <a:p>
            <a:pPr>
              <a:spcAft>
                <a:spcPts val="16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•  Reduce minimum with MPI_MIN.</a:t>
            </a:r>
          </a:p>
          <a:p>
            <a:pPr>
              <a:spcAft>
                <a:spcPts val="1600"/>
              </a:spcAft>
              <a:defRPr sz="1700">
                <a:solidFill>
                  <a:srgbClr val="2A3441"/>
                </a:solidFill>
                <a:latin typeface="Aptos"/>
              </a:defRPr>
            </a:pPr>
            <a:r>
              <a:t>•  Reduce maximum with MPI_MAX.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1042416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500" b="1">
                <a:solidFill>
                  <a:srgbClr val="193052"/>
                </a:solidFill>
                <a:latin typeface="Aptos"/>
              </a:defRPr>
            </a:pPr>
            <a:r>
              <a:t>Generated values repeat from 1 to 1000: value = (index % 1000) + 1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700" b="1">
                <a:solidFill>
                  <a:srgbClr val="193052"/>
                </a:solidFill>
                <a:latin typeface="Aptos"/>
              </a:defRPr>
            </a:pPr>
            <a:r>
              <a:t>4. 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98755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900" b="0">
                <a:solidFill>
                  <a:srgbClr val="64707D"/>
                </a:solidFill>
                <a:latin typeface="Aptos"/>
              </a:defRPr>
            </a:pPr>
            <a:r>
              <a:t>Distributed Dataset Statistics using MPI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55664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000" b="0">
                <a:solidFill>
                  <a:srgbClr val="64707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•  Environment: Windows, GCC, Microsoft MPI, Python, Matplotlib.</a:t>
            </a:r>
          </a:p>
          <a:p>
            <a:pPr>
              <a:spcAft>
                <a:spcPts val="16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•  Dataset sizes: 100,000; 1,000,000; and 5,000,000 values.</a:t>
            </a:r>
          </a:p>
          <a:p>
            <a:pPr>
              <a:spcAft>
                <a:spcPts val="16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•  MPI process counts: 1, 2, and 4.</a:t>
            </a:r>
          </a:p>
          <a:p>
            <a:pPr>
              <a:spcAft>
                <a:spcPts val="16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•  Five timing trials were recorded for 1M and 5M values.</a:t>
            </a:r>
          </a:p>
          <a:p>
            <a:pPr>
              <a:spcAft>
                <a:spcPts val="16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•  One timing trial was recorded for each 100K configuration.</a:t>
            </a:r>
          </a:p>
          <a:p>
            <a:pPr>
              <a:spcAft>
                <a:spcPts val="16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•  Statistics were validated against the expected generated values.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700" b="1">
                <a:solidFill>
                  <a:srgbClr val="193052"/>
                </a:solidFill>
                <a:latin typeface="Aptos"/>
              </a:defRPr>
            </a:pPr>
            <a:r>
              <a:t>5. Mean MPI Runtime and Speedup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98755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900" b="0">
                <a:solidFill>
                  <a:srgbClr val="64707D"/>
                </a:solidFill>
                <a:latin typeface="Aptos"/>
              </a:defRPr>
            </a:pPr>
            <a:r>
              <a:t>Distributed Dataset Statistics using MPI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55664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000" b="0">
                <a:solidFill>
                  <a:srgbClr val="64707D"/>
                </a:solidFill>
                <a:latin typeface="Aptos"/>
              </a:defRPr>
            </a:pPr>
            <a: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43000"/>
          <a:ext cx="103327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828800"/>
                <a:gridCol w="2926080"/>
                <a:gridCol w="2743200"/>
              </a:tblGrid>
              <a:tr h="448056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Dataset size</a:t>
                      </a:r>
                    </a:p>
                  </a:txBody>
                  <a:tcPr anchor="ctr">
                    <a:solidFill>
                      <a:srgbClr val="1930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Processes</a:t>
                      </a:r>
                    </a:p>
                  </a:txBody>
                  <a:tcPr anchor="ctr">
                    <a:solidFill>
                      <a:srgbClr val="1930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Mean time (s)</a:t>
                      </a:r>
                    </a:p>
                  </a:txBody>
                  <a:tcPr anchor="ctr">
                    <a:solidFill>
                      <a:srgbClr val="1930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Speedup</a:t>
                      </a:r>
                    </a:p>
                  </a:txBody>
                  <a:tcPr anchor="ctr">
                    <a:solidFill>
                      <a:srgbClr val="193052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</a:defRPr>
                      </a:pPr>
                      <a:r>
                        <a:t>100,000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</a:defRPr>
                      </a:pPr>
                      <a:r>
                        <a:t>0.000621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</a:defRPr>
                      </a:pPr>
                      <a:r>
                        <a:t>1.00x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</a:defRPr>
                      </a:pPr>
                      <a:r>
                        <a:t>100,000</a:t>
                      </a:r>
                    </a:p>
                  </a:txBody>
                  <a:tcPr anchor="ctr">
                    <a:solidFill>
                      <a:srgbClr val="ED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</a:defRPr>
                      </a:pPr>
                      <a:r>
                        <a:t>0.000775</a:t>
                      </a:r>
                    </a:p>
                  </a:txBody>
                  <a:tcPr anchor="ctr">
                    <a:solidFill>
                      <a:srgbClr val="ED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</a:defRPr>
                      </a:pPr>
                      <a:r>
                        <a:t>0.80x</a:t>
                      </a:r>
                    </a:p>
                  </a:txBody>
                  <a:tcPr anchor="ctr">
                    <a:solidFill>
                      <a:srgbClr val="EDF4F9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</a:defRPr>
                      </a:pPr>
                      <a:r>
                        <a:t>100,000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</a:defRPr>
                      </a:pPr>
                      <a:r>
                        <a:t>0.001219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</a:defRPr>
                      </a:pPr>
                      <a:r>
                        <a:t>0.51x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</a:defRPr>
                      </a:pPr>
                      <a:r>
                        <a:t>1,000,000</a:t>
                      </a:r>
                    </a:p>
                  </a:txBody>
                  <a:tcPr anchor="ctr">
                    <a:solidFill>
                      <a:srgbClr val="ED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D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</a:defRPr>
                      </a:pPr>
                      <a:r>
                        <a:t>0.004306</a:t>
                      </a:r>
                    </a:p>
                  </a:txBody>
                  <a:tcPr anchor="ctr">
                    <a:solidFill>
                      <a:srgbClr val="ED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</a:defRPr>
                      </a:pPr>
                      <a:r>
                        <a:t>1.00x</a:t>
                      </a:r>
                    </a:p>
                  </a:txBody>
                  <a:tcPr anchor="ctr">
                    <a:solidFill>
                      <a:srgbClr val="EDF4F9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</a:defRPr>
                      </a:pPr>
                      <a:r>
                        <a:t>1,000,000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</a:defRPr>
                      </a:pPr>
                      <a:r>
                        <a:t>0.001759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</a:defRPr>
                      </a:pPr>
                      <a:r>
                        <a:t>2.45x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</a:defRPr>
                      </a:pPr>
                      <a:r>
                        <a:t>1,000,000</a:t>
                      </a:r>
                    </a:p>
                  </a:txBody>
                  <a:tcPr anchor="ctr">
                    <a:solidFill>
                      <a:srgbClr val="ED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D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</a:defRPr>
                      </a:pPr>
                      <a:r>
                        <a:t>0.001261</a:t>
                      </a:r>
                    </a:p>
                  </a:txBody>
                  <a:tcPr anchor="ctr">
                    <a:solidFill>
                      <a:srgbClr val="ED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</a:defRPr>
                      </a:pPr>
                      <a:r>
                        <a:t>3.41x</a:t>
                      </a:r>
                    </a:p>
                  </a:txBody>
                  <a:tcPr anchor="ctr">
                    <a:solidFill>
                      <a:srgbClr val="EDF4F9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</a:defRPr>
                      </a:pPr>
                      <a:r>
                        <a:t>5,000,000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</a:defRPr>
                      </a:pPr>
                      <a:r>
                        <a:t>0.015383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</a:defRPr>
                      </a:pPr>
                      <a:r>
                        <a:t>1.00x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</a:defRPr>
                      </a:pPr>
                      <a:r>
                        <a:t>5,000,000</a:t>
                      </a:r>
                    </a:p>
                  </a:txBody>
                  <a:tcPr anchor="ctr">
                    <a:solidFill>
                      <a:srgbClr val="ED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</a:defRPr>
                      </a:pPr>
                      <a:r>
                        <a:t>0.007572</a:t>
                      </a:r>
                    </a:p>
                  </a:txBody>
                  <a:tcPr anchor="ctr">
                    <a:solidFill>
                      <a:srgbClr val="ED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</a:defRPr>
                      </a:pPr>
                      <a:r>
                        <a:t>2.03x</a:t>
                      </a:r>
                    </a:p>
                  </a:txBody>
                  <a:tcPr anchor="ctr">
                    <a:solidFill>
                      <a:srgbClr val="EDF4F9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</a:defRPr>
                      </a:pPr>
                      <a:r>
                        <a:t>5,000,000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</a:defRPr>
                      </a:pPr>
                      <a:r>
                        <a:t>0.004244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3441"/>
                          </a:solidFill>
                        </a:defRPr>
                      </a:pPr>
                      <a:r>
                        <a:t>3.62x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806440"/>
            <a:ext cx="1069848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300" b="0">
                <a:solidFill>
                  <a:srgbClr val="64707D"/>
                </a:solidFill>
                <a:latin typeface="Aptos"/>
              </a:defRPr>
            </a:pPr>
            <a:r>
              <a:t>Speedup is relative to the one-process MPI run for the same dataset.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700" b="1">
                <a:solidFill>
                  <a:srgbClr val="193052"/>
                </a:solidFill>
                <a:latin typeface="Aptos"/>
              </a:defRPr>
            </a:pPr>
            <a:r>
              <a:t>6. Performance Graphs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98755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900" b="0">
                <a:solidFill>
                  <a:srgbClr val="64707D"/>
                </a:solidFill>
                <a:latin typeface="Aptos"/>
              </a:defRPr>
            </a:pPr>
            <a:r>
              <a:t>Distributed Dataset Statistics using MPI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55664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000" b="0">
                <a:solidFill>
                  <a:srgbClr val="64707D"/>
                </a:solidFill>
                <a:latin typeface="Aptos"/>
              </a:defRPr>
            </a:pPr>
            <a:r>
              <a:t>7</a:t>
            </a:r>
          </a:p>
        </p:txBody>
      </p:sp>
      <p:pic>
        <p:nvPicPr>
          <p:cNvPr id="6" name="Picture 5" descr="execution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440680" cy="4251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623560"/>
            <a:ext cx="5120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500" b="1">
                <a:solidFill>
                  <a:srgbClr val="193052"/>
                </a:solidFill>
                <a:latin typeface="Aptos"/>
              </a:defRPr>
            </a:pPr>
            <a:r>
              <a:t>Mean execution time</a:t>
            </a:r>
          </a:p>
        </p:txBody>
      </p:sp>
      <p:pic>
        <p:nvPicPr>
          <p:cNvPr id="8" name="Picture 7" descr="speed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34440"/>
            <a:ext cx="5440680" cy="4251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55080" y="5623560"/>
            <a:ext cx="512064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500" b="1">
                <a:solidFill>
                  <a:srgbClr val="193052"/>
                </a:solidFill>
                <a:latin typeface="Aptos"/>
              </a:defRPr>
            </a:pPr>
            <a:r>
              <a:t>Parallel speedup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700" b="1">
                <a:solidFill>
                  <a:srgbClr val="193052"/>
                </a:solidFill>
                <a:latin typeface="Aptos"/>
              </a:defRPr>
            </a:pPr>
            <a:r>
              <a:t>7. Efficiency and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98755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900" b="0">
                <a:solidFill>
                  <a:srgbClr val="64707D"/>
                </a:solidFill>
                <a:latin typeface="Aptos"/>
              </a:defRPr>
            </a:pPr>
            <a:r>
              <a:t>Distributed Dataset Statistics using MPI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55664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000" b="0">
                <a:solidFill>
                  <a:srgbClr val="64707D"/>
                </a:solidFill>
                <a:latin typeface="Aptos"/>
              </a:defRPr>
            </a:pPr>
            <a:r>
              <a:t>8</a:t>
            </a:r>
          </a:p>
        </p:txBody>
      </p:sp>
      <p:pic>
        <p:nvPicPr>
          <p:cNvPr id="6" name="Picture 5" descr="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49224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0" y="1371600"/>
            <a:ext cx="4389120" cy="4114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100" b="1">
                <a:solidFill>
                  <a:srgbClr val="2A69A0"/>
                </a:solidFill>
                <a:latin typeface="Aptos"/>
              </a:defRPr>
            </a:pPr>
            <a:r>
              <a:t>Key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828800"/>
            <a:ext cx="4480560" cy="384048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600"/>
              </a:spcAft>
              <a:defRPr sz="1500">
                <a:solidFill>
                  <a:srgbClr val="2A3441"/>
                </a:solidFill>
                <a:latin typeface="Aptos"/>
              </a:defRPr>
            </a:pPr>
            <a:r>
              <a:t>•  For 100K values, more processes did not improve runtime.</a:t>
            </a:r>
          </a:p>
          <a:p>
            <a:pPr>
              <a:spcAft>
                <a:spcPts val="1600"/>
              </a:spcAft>
              <a:defRPr sz="1500">
                <a:solidFill>
                  <a:srgbClr val="2A3441"/>
                </a:solidFill>
                <a:latin typeface="Aptos"/>
              </a:defRPr>
            </a:pPr>
            <a:r>
              <a:t>•  For 1M and 5M values, four processes had the lowest measured mean runtime.</a:t>
            </a:r>
          </a:p>
          <a:p>
            <a:pPr>
              <a:spcAft>
                <a:spcPts val="1600"/>
              </a:spcAft>
              <a:defRPr sz="1500">
                <a:solidFill>
                  <a:srgbClr val="2A3441"/>
                </a:solidFill>
                <a:latin typeface="Aptos"/>
              </a:defRPr>
            </a:pPr>
            <a:r>
              <a:t>•  Small timing values and system scheduling create variability.</a:t>
            </a:r>
          </a:p>
          <a:p>
            <a:pPr>
              <a:spcAft>
                <a:spcPts val="1600"/>
              </a:spcAft>
              <a:defRPr sz="1500">
                <a:solidFill>
                  <a:srgbClr val="2A3441"/>
                </a:solidFill>
                <a:latin typeface="Aptos"/>
              </a:defRPr>
            </a:pPr>
            <a:r>
              <a:t>•  One 100K trial per configuration limits confidence.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1097280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300" b="0">
                <a:solidFill>
                  <a:srgbClr val="64707D"/>
                </a:solidFill>
                <a:latin typeface="Aptos"/>
              </a:defRPr>
            </a:pPr>
            <a:r>
              <a:t>Results are preliminary; additional repeated trials would improve reliability.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2700" b="1">
                <a:solidFill>
                  <a:srgbClr val="193052"/>
                </a:solidFill>
                <a:latin typeface="Aptos"/>
              </a:defRPr>
            </a:pPr>
            <a:r>
              <a:t>8. Conclusion and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473952"/>
            <a:ext cx="9875520" cy="18288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900" b="0">
                <a:solidFill>
                  <a:srgbClr val="64707D"/>
                </a:solidFill>
                <a:latin typeface="Aptos"/>
              </a:defRPr>
            </a:pPr>
            <a:r>
              <a:t>Distributed Dataset Statistics using MPI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55664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000" b="0">
                <a:solidFill>
                  <a:srgbClr val="64707D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448056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•  The MPI program computes sum, average, minimum, and maximum correctly.</a:t>
            </a:r>
          </a:p>
          <a:p>
            <a:pPr>
              <a:spcAft>
                <a:spcPts val="16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•  The workload is distributed and local results are combined with MPI_Reduce.</a:t>
            </a:r>
          </a:p>
          <a:p>
            <a:pPr>
              <a:spcAft>
                <a:spcPts val="16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•  Larger tested datasets benefited from additional processes in the recorded runs.</a:t>
            </a:r>
          </a:p>
          <a:p>
            <a:pPr>
              <a:spcAft>
                <a:spcPts val="16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•  MPI overhead can outweigh parallel gains for small workloads.</a:t>
            </a:r>
          </a:p>
          <a:p>
            <a:pPr>
              <a:spcAft>
                <a:spcPts val="1600"/>
              </a:spcAft>
              <a:defRPr sz="1900">
                <a:solidFill>
                  <a:srgbClr val="2A3441"/>
                </a:solidFill>
                <a:latin typeface="Aptos"/>
              </a:defRPr>
            </a:pPr>
            <a:r>
              <a:t>•  Demo: compile, then run the MPI program with 1, 2, and 4 processes.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10789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400" b="1">
                <a:solidFill>
                  <a:srgbClr val="2A69A0"/>
                </a:solidFill>
                <a:latin typeface="Aptos"/>
              </a:defRPr>
            </a:pPr>
            <a:r>
              <a:t>Compile: mpicc src\mpi_statistics.c -o mpi_statistics.exe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10789920" cy="320040"/>
          </a:xfrm>
          <a:prstGeom prst="rect">
            <a:avLst/>
          </a:prstGeom>
          <a:noFill/>
        </p:spPr>
        <p:txBody>
          <a:bodyPr wrap="square" lIns="54864" rIns="54864" tIns="27432" bIns="27432">
            <a:spAutoFit/>
          </a:bodyPr>
          <a:lstStyle/>
          <a:p>
            <a:pPr>
              <a:defRPr sz="1400" b="1">
                <a:solidFill>
                  <a:srgbClr val="2A69A0"/>
                </a:solidFill>
                <a:latin typeface="Aptos"/>
              </a:defRPr>
            </a:pPr>
            <a:r>
              <a:t>Run: mpiexec -n 4 mpi_statistics.exe 1000000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